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67"/>
  </p:normalViewPr>
  <p:slideViewPr>
    <p:cSldViewPr snapToGrid="0">
      <p:cViewPr>
        <p:scale>
          <a:sx n="161" d="100"/>
          <a:sy n="161" d="100"/>
        </p:scale>
        <p:origin x="144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spec.md §1; eval/DATA_MINING_REPORT.md.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spec.md §4; codebase/core_ai/assistant.py; codebase/discord_bot/.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spec.md §5 và §6; eval/golden_set.json.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eval/run_results.md; spec.md §7. Số liệu live_api ngày 17/09/2026 10:04.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eval/run_results.md, phần phân tích TC_23 và TC_26.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TEAM-GUIDE.md; spec.md 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1878B86-6AC3-42C4-882C-13DBBE9EEE7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01 · USER &amp;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44D72-8879-47B7-BEFA-CCB2B926E63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Bối cảnh và bài toán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95773C-5B65-44A0-86D2-5F9F528CD24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LacHong · Discord Assistant   1/6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8D7CA7-3165-43A4-A425-827631B0AF8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5429250" cy="4095750"/>
          </a:xfrm>
          <a:prstGeom prst="roundRect">
            <a:avLst>
              <a:gd name="adj" fmla="val 1860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61946E-4995-4CAE-A8D3-A707F85E3F8A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Học viên cần một câu trả lời chắc chắn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75B7B0-23F0-4FEA-882C-5C763FA9371D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Khi deadline hoặc thủ tục không rõ, họ phải lục Discord, hỏi lại hoặc tự đoán. Một câu trả lời sai có thể khiến bài nộp trễ.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F7316F-4595-40E0-95CD-2B42CCCF6401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4286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Bằng chứng chuẩn B · mining chatlog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75D8D9-33A2-430D-9E21-E9D4344B36FF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428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1.092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BE25FD-D3BF-4AAC-8973-43BC48010195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tổng tin nhắn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6D9968-4FCA-412F-A0D8-08272587014D}"/>
              </a:ext>
            </a:extLst>
          </p:cNvPr>
          <p:cNvSpPr>
            <a:spLocks noGrp="1"/>
          </p:cNvSpPr>
          <p:nvPr/>
        </p:nvSpPr>
        <p:spPr>
          <a:xfrm>
            <a:off x="2714625" y="3714750"/>
            <a:ext cx="2133822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dirty="0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87 / 779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EF1253-5F71-499E-99DC-4A5D4946DD92}"/>
              </a:ext>
            </a:extLst>
          </p:cNvPr>
          <p:cNvSpPr>
            <a:spLocks noGrp="1"/>
          </p:cNvSpPr>
          <p:nvPr/>
        </p:nvSpPr>
        <p:spPr>
          <a:xfrm>
            <a:off x="2714625" y="4238625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hỏi deadline / nộp bài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3C083F-FD63-4EE7-8F4B-FD95F793FB0D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486,5 ký tự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5BDC62-74BB-4FE3-B24C-A17C818689DE}"/>
              </a:ext>
            </a:extLst>
          </p:cNvPr>
          <p:cNvSpPr>
            <a:spLocks noGrp="1"/>
          </p:cNvSpPr>
          <p:nvPr/>
        </p:nvSpPr>
        <p:spPr>
          <a:xfrm>
            <a:off x="2714625" y="48101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độ dài trả lời bot cũ trung bình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CBD1A7E-7E95-4C91-8019-F99C5259BAEB}"/>
              </a:ext>
            </a:extLst>
          </p:cNvPr>
          <p:cNvSpPr>
            <a:spLocks noGrp="1"/>
          </p:cNvSpPr>
          <p:nvPr/>
        </p:nvSpPr>
        <p:spPr>
          <a:xfrm>
            <a:off x="6419850" y="1428750"/>
            <a:ext cx="5162550" cy="4095750"/>
          </a:xfrm>
          <a:prstGeom prst="roundRect">
            <a:avLst>
              <a:gd name="adj" fmla="val 1860"/>
            </a:avLst>
          </a:prstGeom>
          <a:solidFill>
            <a:srgbClr val="273449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135C89-4F55-4D8A-A0B3-F9B79CC4D8C1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Ví dụ lỗi quan sát được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AD0C04-4313-483C-A1CB-6F0A992717E2}"/>
              </a:ext>
            </a:extLst>
          </p:cNvPr>
          <p:cNvSpPr>
            <a:spLocks noGrp="1"/>
          </p:cNvSpPr>
          <p:nvPr/>
        </p:nvSpPr>
        <p:spPr>
          <a:xfrm>
            <a:off x="6705600" y="2286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“check xem t đã nộp bài codelab chưa”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3F4DB3-883C-4AF5-8438-548265F8969A}"/>
              </a:ext>
            </a:extLst>
          </p:cNvPr>
          <p:cNvSpPr>
            <a:spLocks noGrp="1"/>
          </p:cNvSpPr>
          <p:nvPr/>
        </p:nvSpPr>
        <p:spPr>
          <a:xfrm>
            <a:off x="6705600" y="2667000"/>
            <a:ext cx="4286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Bot cũ trả lời về thời điểm chấm bài, không trả lời trạng thái nộp.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1E827205-27B2-43F3-846A-9CF194751965}"/>
              </a:ext>
            </a:extLst>
          </p:cNvPr>
          <p:cNvSpPr>
            <a:spLocks noGrp="1"/>
          </p:cNvSpPr>
          <p:nvPr/>
        </p:nvSpPr>
        <p:spPr>
          <a:xfrm>
            <a:off x="6705600" y="3429000"/>
            <a:ext cx="4286250" cy="0"/>
          </a:xfrm>
          <a:prstGeom prst="line">
            <a:avLst/>
          </a:prstGeom>
          <a:ln w="19050">
            <a:solidFill>
              <a:srgbClr val="A7B3C5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FD0736-B665-4768-8747-5BDD2B07F743}"/>
              </a:ext>
            </a:extLst>
          </p:cNvPr>
          <p:cNvSpPr>
            <a:spLocks noGrp="1"/>
          </p:cNvSpPr>
          <p:nvPr/>
        </p:nvSpPr>
        <p:spPr>
          <a:xfrm>
            <a:off x="6705600" y="3733800"/>
            <a:ext cx="4286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Nhu cầu cốt lõi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965CCE-3910-4B48-83BB-B778995F7C12}"/>
              </a:ext>
            </a:extLst>
          </p:cNvPr>
          <p:cNvSpPr>
            <a:spLocks noGrp="1"/>
          </p:cNvSpPr>
          <p:nvPr/>
        </p:nvSpPr>
        <p:spPr>
          <a:xfrm>
            <a:off x="6705600" y="40957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Biết đúng bước tiếp theo từ nguồn chính thức, hoặc được chuyển người có quyền xử lý.</a:t>
            </a:r>
          </a:p>
        </p:txBody>
      </p:sp>
    </p:spTree>
    <p:extLst>
      <p:ext uri="{BB962C8B-B14F-4D97-AF65-F5344CB8AC3E}">
        <p14:creationId xmlns:p14="http://schemas.microsoft.com/office/powerpoint/2010/main" val="133024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713ACC3-36B9-4E35-AE6B-F3AD84FCF96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02 · WHY THIS SLICE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D90599-BE30-4ADF-947A-52F282EB5A4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Lát cắt giải pháp và kiến trúc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9B3C20-E3DA-406C-BC83-065E03744AD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LacHong · Discord Assistant   2/6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6D14CA6-F48D-407B-9386-7FE463873D1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5865F2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E643AA-1835-4D5E-9695-505EAFF48AB0}"/>
              </a:ext>
            </a:extLst>
          </p:cNvPr>
          <p:cNvSpPr>
            <a:spLocks noGrp="1"/>
          </p:cNvSpPr>
          <p:nvPr/>
        </p:nvSpPr>
        <p:spPr>
          <a:xfrm>
            <a:off x="895350" y="1724025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Học viên hỏi thủ tục → trợ lý đối chiếu thông báo chính thức → trả lời, hỏi lại hoặc tag TA.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BE7AF4-CBFD-48C1-AE66-6D8EA965DAF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 w="0">
            <a:noFill/>
          </a:ln>
        </p:spPr>
        <p:txBody>
          <a:bodyPr/>
          <a:lstStyle/>
          <a:p>
            <a:endParaRPr lang="en-V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FDB11-3A76-4BA7-A998-84F7592AC9D6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Học viên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7CA18F-E350-4104-94F7-354DB528FA5E}"/>
              </a:ext>
            </a:extLst>
          </p:cNvPr>
          <p:cNvSpPr>
            <a:spLocks noGrp="1"/>
          </p:cNvSpPr>
          <p:nvPr/>
        </p:nvSpPr>
        <p:spPr>
          <a:xfrm>
            <a:off x="800100" y="36671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@</a:t>
            </a:r>
            <a:r>
              <a:rPr sz="1275" b="0" dirty="0" err="1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Trợ</a:t>
            </a:r>
            <a:r>
              <a:rPr sz="1275" b="0" dirty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lý</a:t>
            </a:r>
            <a:endParaRPr sz="1275" b="0" dirty="0">
              <a:solidFill>
                <a:srgbClr val="A7B3C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E498B4-5905-423C-A58A-92D3E83CD61A}"/>
              </a:ext>
            </a:extLst>
          </p:cNvPr>
          <p:cNvSpPr>
            <a:spLocks noGrp="1"/>
          </p:cNvSpPr>
          <p:nvPr/>
        </p:nvSpPr>
        <p:spPr>
          <a:xfrm>
            <a:off x="2800350" y="35052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74FEEB6-CA02-4C31-BF83-4F0810806B55}"/>
              </a:ext>
            </a:extLst>
          </p:cNvPr>
          <p:cNvSpPr>
            <a:spLocks noGrp="1"/>
          </p:cNvSpPr>
          <p:nvPr/>
        </p:nvSpPr>
        <p:spPr>
          <a:xfrm>
            <a:off x="3162300" y="3000375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27344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7728B9-52F4-48D4-8E1D-3C1F740523EA}"/>
              </a:ext>
            </a:extLst>
          </p:cNvPr>
          <p:cNvSpPr>
            <a:spLocks noGrp="1"/>
          </p:cNvSpPr>
          <p:nvPr/>
        </p:nvSpPr>
        <p:spPr>
          <a:xfrm>
            <a:off x="3352800" y="3238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Core AI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30D03-C46E-4691-8FE6-68150BB6C8BC}"/>
              </a:ext>
            </a:extLst>
          </p:cNvPr>
          <p:cNvSpPr>
            <a:spLocks noGrp="1"/>
          </p:cNvSpPr>
          <p:nvPr/>
        </p:nvSpPr>
        <p:spPr>
          <a:xfrm>
            <a:off x="3352800" y="36671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intent + guardrail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DCB5B3-7903-4FCC-A81D-730B9495FE85}"/>
              </a:ext>
            </a:extLst>
          </p:cNvPr>
          <p:cNvSpPr>
            <a:spLocks noGrp="1"/>
          </p:cNvSpPr>
          <p:nvPr/>
        </p:nvSpPr>
        <p:spPr>
          <a:xfrm>
            <a:off x="5353050" y="35052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AF53B20-83E6-459B-A9C8-D8780C34E8CD}"/>
              </a:ext>
            </a:extLst>
          </p:cNvPr>
          <p:cNvSpPr>
            <a:spLocks noGrp="1"/>
          </p:cNvSpPr>
          <p:nvPr/>
        </p:nvSpPr>
        <p:spPr>
          <a:xfrm>
            <a:off x="5715000" y="3000375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8C27C-CF0F-4794-9C3B-7E91771532AC}"/>
              </a:ext>
            </a:extLst>
          </p:cNvPr>
          <p:cNvSpPr>
            <a:spLocks noGrp="1"/>
          </p:cNvSpPr>
          <p:nvPr/>
        </p:nvSpPr>
        <p:spPr>
          <a:xfrm>
            <a:off x="5905500" y="3238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Ground truth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2890B1-04C6-4425-A6EA-E797BFB85517}"/>
              </a:ext>
            </a:extLst>
          </p:cNvPr>
          <p:cNvSpPr>
            <a:spLocks noGrp="1"/>
          </p:cNvSpPr>
          <p:nvPr/>
        </p:nvSpPr>
        <p:spPr>
          <a:xfrm>
            <a:off x="5905500" y="36671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7 thông báo chính thức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D0CA97-B588-4264-85FA-FF286C604EDC}"/>
              </a:ext>
            </a:extLst>
          </p:cNvPr>
          <p:cNvSpPr>
            <a:spLocks noGrp="1"/>
          </p:cNvSpPr>
          <p:nvPr/>
        </p:nvSpPr>
        <p:spPr>
          <a:xfrm>
            <a:off x="7905750" y="35052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17678AC-AFA2-467B-A202-6A28594C182A}"/>
              </a:ext>
            </a:extLst>
          </p:cNvPr>
          <p:cNvSpPr>
            <a:spLocks noGrp="1"/>
          </p:cNvSpPr>
          <p:nvPr/>
        </p:nvSpPr>
        <p:spPr>
          <a:xfrm>
            <a:off x="8267700" y="3000375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273449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96F45B-F97F-4D9A-A2DA-DBC3F62BBD4B}"/>
              </a:ext>
            </a:extLst>
          </p:cNvPr>
          <p:cNvSpPr>
            <a:spLocks noGrp="1"/>
          </p:cNvSpPr>
          <p:nvPr/>
        </p:nvSpPr>
        <p:spPr>
          <a:xfrm>
            <a:off x="8458200" y="3238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Discord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08CAB3-7C77-44AE-81C8-7A8B24E70BFE}"/>
              </a:ext>
            </a:extLst>
          </p:cNvPr>
          <p:cNvSpPr>
            <a:spLocks noGrp="1"/>
          </p:cNvSpPr>
          <p:nvPr/>
        </p:nvSpPr>
        <p:spPr>
          <a:xfrm>
            <a:off x="8458200" y="36671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reply + source button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32F41CB-1AC5-41E1-96E1-02481E25887D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7C8868-EB2F-461C-8313-F2C9A6FE6387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Conditional automation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1A38FD-591D-4617-97C7-B17CFA6DD48F}"/>
              </a:ext>
            </a:extLst>
          </p:cNvPr>
          <p:cNvSpPr>
            <a:spLocks noGrp="1"/>
          </p:cNvSpPr>
          <p:nvPr/>
        </p:nvSpPr>
        <p:spPr>
          <a:xfrm>
            <a:off x="3143250" y="5048250"/>
            <a:ext cx="7810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Tự trả lời khi có nguồn đủ · hỏi lại khi thiếu thực thể · tag TA khi không chắc, ngoài quyền hoặc mâu thuẫn.</a:t>
            </a:r>
          </a:p>
        </p:txBody>
      </p:sp>
    </p:spTree>
    <p:extLst>
      <p:ext uri="{BB962C8B-B14F-4D97-AF65-F5344CB8AC3E}">
        <p14:creationId xmlns:p14="http://schemas.microsoft.com/office/powerpoint/2010/main" val="6974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E8EA5CA-1627-489E-BE6A-C5577DD8C3A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03 · SOLUTION &amp;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A57D25-7D2E-4093-9958-257A21FBBD2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Bốn lớp chỗ khó trong trải nghiệm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0F5213-18BC-49F7-8AA6-D24F45AB220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LacHong · Discord Assistant   3/6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CB7FAA8-1AC0-4DE4-B9A0-20B7C9D8CB4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0B8C83-6546-4672-A919-E5BE29285B3E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FB7185"/>
          </a:solidFill>
          <a:ln w="0">
            <a:noFill/>
          </a:ln>
        </p:spPr>
        <p:txBody>
          <a:bodyPr/>
          <a:lstStyle/>
          <a:p>
            <a:endParaRPr lang="en-V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91D53-A810-4049-9D4A-A0589DD2B45C}"/>
              </a:ext>
            </a:extLst>
          </p:cNvPr>
          <p:cNvSpPr>
            <a:spLocks noGrp="1"/>
          </p:cNvSpPr>
          <p:nvPr/>
        </p:nvSpPr>
        <p:spPr>
          <a:xfrm>
            <a:off x="933451" y="1743075"/>
            <a:ext cx="451518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05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01</a:t>
            </a:r>
            <a:endParaRPr sz="1050" b="1" dirty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54FF65-B083-476E-A57A-C1DC4A764863}"/>
              </a:ext>
            </a:extLst>
          </p:cNvPr>
          <p:cNvSpPr>
            <a:spLocks noGrp="1"/>
          </p:cNvSpPr>
          <p:nvPr/>
        </p:nvSpPr>
        <p:spPr>
          <a:xfrm>
            <a:off x="1581150" y="16002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Nguồn chưa có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2FAB7-3BF4-4845-B3F6-C82DB882BF64}"/>
              </a:ext>
            </a:extLst>
          </p:cNvPr>
          <p:cNvSpPr>
            <a:spLocks noGrp="1"/>
          </p:cNvSpPr>
          <p:nvPr/>
        </p:nvSpPr>
        <p:spPr>
          <a:xfrm>
            <a:off x="3905250" y="16002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Lab 4 chưa công bố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FF759D-439A-4835-B7CD-D3F2451E456B}"/>
              </a:ext>
            </a:extLst>
          </p:cNvPr>
          <p:cNvSpPr>
            <a:spLocks noGrp="1"/>
          </p:cNvSpPr>
          <p:nvPr/>
        </p:nvSpPr>
        <p:spPr>
          <a:xfrm>
            <a:off x="7667625" y="16002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B71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7185"/>
                </a:solidFill>
                <a:latin typeface="Helvetica Neue"/>
                <a:ea typeface="Helvetica Neue"/>
                <a:cs typeface="Helvetica Neue"/>
              </a:rPr>
              <a:t>Không đoán · tag TA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91B15E-015C-46D7-9B83-C2E6EC01FC5B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34F542E-9BD1-41F9-AA1F-7EBCCCC019DA}"/>
              </a:ext>
            </a:extLst>
          </p:cNvPr>
          <p:cNvSpPr>
            <a:spLocks noGrp="1"/>
          </p:cNvSpPr>
          <p:nvPr/>
        </p:nvSpPr>
        <p:spPr>
          <a:xfrm>
            <a:off x="819150" y="2705100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3192BA-4FAB-45D4-989C-593D59F01346}"/>
              </a:ext>
            </a:extLst>
          </p:cNvPr>
          <p:cNvSpPr>
            <a:spLocks noGrp="1"/>
          </p:cNvSpPr>
          <p:nvPr/>
        </p:nvSpPr>
        <p:spPr>
          <a:xfrm>
            <a:off x="933450" y="27717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2C6F4-27C4-4127-B388-A63C1084EBCD}"/>
              </a:ext>
            </a:extLst>
          </p:cNvPr>
          <p:cNvSpPr>
            <a:spLocks noGrp="1"/>
          </p:cNvSpPr>
          <p:nvPr/>
        </p:nvSpPr>
        <p:spPr>
          <a:xfrm>
            <a:off x="1581150" y="26289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Câu hỏi mơ hồ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DB5FDE-DF18-4E41-AFFE-B6FAA1FDCB91}"/>
              </a:ext>
            </a:extLst>
          </p:cNvPr>
          <p:cNvSpPr>
            <a:spLocks noGrp="1"/>
          </p:cNvSpPr>
          <p:nvPr/>
        </p:nvSpPr>
        <p:spPr>
          <a:xfrm>
            <a:off x="3905250" y="26289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“Hạn nộp bài là mấy giờ?”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62B914-5371-4CBD-B418-D37801EACDDD}"/>
              </a:ext>
            </a:extLst>
          </p:cNvPr>
          <p:cNvSpPr>
            <a:spLocks noGrp="1"/>
          </p:cNvSpPr>
          <p:nvPr/>
        </p:nvSpPr>
        <p:spPr>
          <a:xfrm>
            <a:off x="7667625" y="26289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3 lựa chọn clarification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D33E5C-4879-465E-83E8-91F7B3E0869B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B09EB1C-F301-4287-9314-8BEF494EC1C6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C084FC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6D1599-5BD1-4414-BA99-727C730F8953}"/>
              </a:ext>
            </a:extLst>
          </p:cNvPr>
          <p:cNvSpPr>
            <a:spLocks noGrp="1"/>
          </p:cNvSpPr>
          <p:nvPr/>
        </p:nvSpPr>
        <p:spPr>
          <a:xfrm>
            <a:off x="933450" y="3800475"/>
            <a:ext cx="619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7DCAD9-3612-404B-A222-0F9A3188B89D}"/>
              </a:ext>
            </a:extLst>
          </p:cNvPr>
          <p:cNvSpPr>
            <a:spLocks noGrp="1"/>
          </p:cNvSpPr>
          <p:nvPr/>
        </p:nvSpPr>
        <p:spPr>
          <a:xfrm>
            <a:off x="1581150" y="36576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Ngoài quyền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9BC966-C4D2-4B20-BE6C-58756FDB107E}"/>
              </a:ext>
            </a:extLst>
          </p:cNvPr>
          <p:cNvSpPr>
            <a:spLocks noGrp="1"/>
          </p:cNvSpPr>
          <p:nvPr/>
        </p:nvSpPr>
        <p:spPr>
          <a:xfrm>
            <a:off x="3905250" y="36576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Xem điểm danh cá nhân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528DB9-C397-4915-9353-70BCC7724E71}"/>
              </a:ext>
            </a:extLst>
          </p:cNvPr>
          <p:cNvSpPr>
            <a:spLocks noGrp="1"/>
          </p:cNvSpPr>
          <p:nvPr/>
        </p:nvSpPr>
        <p:spPr>
          <a:xfrm>
            <a:off x="7667625" y="36576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C08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084FC"/>
                </a:solidFill>
                <a:latin typeface="Helvetica Neue"/>
                <a:ea typeface="Helvetica Neue"/>
                <a:cs typeface="Helvetica Neue"/>
              </a:rPr>
              <a:t>Từ chối · ticket / TA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63F6AF-E556-4FC4-BBAC-5A8EEC6FBA48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AC77503-A571-46B7-8A19-FE03A9928606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523875" cy="323850"/>
          </a:xfrm>
          <a:prstGeom prst="roundRect">
            <a:avLst>
              <a:gd name="adj" fmla="val 23529"/>
            </a:avLst>
          </a:prstGeom>
          <a:solidFill>
            <a:srgbClr val="67E8F9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08D80E-640F-4271-938B-72A66F5D4987}"/>
              </a:ext>
            </a:extLst>
          </p:cNvPr>
          <p:cNvSpPr>
            <a:spLocks noGrp="1"/>
          </p:cNvSpPr>
          <p:nvPr/>
        </p:nvSpPr>
        <p:spPr>
          <a:xfrm>
            <a:off x="933450" y="4829175"/>
            <a:ext cx="619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8CBB8A-0FFC-4389-9844-DA5834635522}"/>
              </a:ext>
            </a:extLst>
          </p:cNvPr>
          <p:cNvSpPr>
            <a:spLocks noGrp="1"/>
          </p:cNvSpPr>
          <p:nvPr/>
        </p:nvSpPr>
        <p:spPr>
          <a:xfrm>
            <a:off x="1581150" y="46863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 err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Mâu</a:t>
            </a:r>
            <a:r>
              <a:rPr sz="1425" b="1" dirty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b="1" dirty="0" err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thuẫn</a:t>
            </a:r>
            <a:endParaRPr sz="1425" b="1" dirty="0">
              <a:solidFill>
                <a:srgbClr val="F8FAFC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F96D25-B69F-4436-A190-C3BBFC27530B}"/>
              </a:ext>
            </a:extLst>
          </p:cNvPr>
          <p:cNvSpPr>
            <a:spLocks noGrp="1"/>
          </p:cNvSpPr>
          <p:nvPr/>
        </p:nvSpPr>
        <p:spPr>
          <a:xfrm>
            <a:off x="3905250" y="46863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Email 23:59 · Discord 18:00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C00DA0-A90A-4C77-935F-23D70F44B2BF}"/>
              </a:ext>
            </a:extLst>
          </p:cNvPr>
          <p:cNvSpPr>
            <a:spLocks noGrp="1"/>
          </p:cNvSpPr>
          <p:nvPr/>
        </p:nvSpPr>
        <p:spPr>
          <a:xfrm>
            <a:off x="7667625" y="46863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Cảnh báo · tag TA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5C33513-41F4-4699-B1F7-AFBCE1E7DCED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5865F2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1A5AFF-0ECD-4ACA-8E47-D977F768441B}"/>
              </a:ext>
            </a:extLst>
          </p:cNvPr>
          <p:cNvSpPr>
            <a:spLocks noGrp="1"/>
          </p:cNvSpPr>
          <p:nvPr/>
        </p:nvSpPr>
        <p:spPr>
          <a:xfrm>
            <a:off x="857250" y="5781675"/>
            <a:ext cx="10382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Demo live: Lab 2 có nguồn · câu hỏi mơ hồ · case Lab 4 chuyển TA</a:t>
            </a:r>
          </a:p>
        </p:txBody>
      </p:sp>
    </p:spTree>
    <p:extLst>
      <p:ext uri="{BB962C8B-B14F-4D97-AF65-F5344CB8AC3E}">
        <p14:creationId xmlns:p14="http://schemas.microsoft.com/office/powerpoint/2010/main" val="86809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A9BE4E5-769C-40D3-9443-9D2279FFC48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04 · QUALITY BAR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A88481-53BF-457F-9AE8-3495E9C84E9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Kết quả đo trên Golden 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CDFF5B-47F9-4EA5-AB39-A71042A58D7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LacHong · Discord Assistant   4/6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C2B8D7-0CEE-4055-B4DD-C56A3DD9E1B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3333750" cy="3905250"/>
          </a:xfrm>
          <a:prstGeom prst="roundRect">
            <a:avLst>
              <a:gd name="adj" fmla="val 2286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3EBED-F337-410C-8400-80DF790C505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27622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93,33%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E87B10-1D9E-4B02-842F-915952AB323B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28 / 30 case đạt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78FF09-279C-46A4-9BD9-ED35A7862C09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Quality bar CP4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46C57-E46B-4414-BFA5-D347FBB3FB92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2860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≥80% tổng thể</a:t>
            </a:r>
          </a:p>
          <a:p>
            <a:pPr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0% bịa deadline</a:t>
            </a:r>
          </a:p>
          <a:p>
            <a:pPr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100% boundary / handoff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65EB9F-83E6-43C1-93C9-34F3141DC22E}"/>
              </a:ext>
            </a:extLst>
          </p:cNvPr>
          <p:cNvSpPr>
            <a:spLocks noGrp="1"/>
          </p:cNvSpPr>
          <p:nvPr/>
        </p:nvSpPr>
        <p:spPr>
          <a:xfrm>
            <a:off x="4324350" y="1428750"/>
            <a:ext cx="7258050" cy="3905250"/>
          </a:xfrm>
          <a:prstGeom prst="roundRect">
            <a:avLst>
              <a:gd name="adj" fmla="val 1951"/>
            </a:avLst>
          </a:prstGeom>
          <a:solidFill>
            <a:srgbClr val="273449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CFFBE-71E2-4954-AE36-0FC7BE3F0853}"/>
              </a:ext>
            </a:extLst>
          </p:cNvPr>
          <p:cNvSpPr>
            <a:spLocks noGrp="1"/>
          </p:cNvSpPr>
          <p:nvPr/>
        </p:nvSpPr>
        <p:spPr>
          <a:xfrm>
            <a:off x="4629150" y="173355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Các chiều chất lượng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0A9CA-A9C9-4FB8-A4B2-7D55CA0046C0}"/>
              </a:ext>
            </a:extLst>
          </p:cNvPr>
          <p:cNvSpPr>
            <a:spLocks noGrp="1"/>
          </p:cNvSpPr>
          <p:nvPr/>
        </p:nvSpPr>
        <p:spPr>
          <a:xfrm>
            <a:off x="4629150" y="2238375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Intent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48AE02-1E46-4F66-85D6-CBE152E003E1}"/>
              </a:ext>
            </a:extLst>
          </p:cNvPr>
          <p:cNvSpPr>
            <a:spLocks noGrp="1"/>
          </p:cNvSpPr>
          <p:nvPr/>
        </p:nvSpPr>
        <p:spPr>
          <a:xfrm>
            <a:off x="7334250" y="2238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30 / 30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D7BDC9-CCE9-4B32-A6AA-53034811CD4F}"/>
              </a:ext>
            </a:extLst>
          </p:cNvPr>
          <p:cNvSpPr>
            <a:spLocks noGrp="1"/>
          </p:cNvSpPr>
          <p:nvPr/>
        </p:nvSpPr>
        <p:spPr>
          <a:xfrm>
            <a:off x="9810750" y="2238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A9F59E0-A3E8-4182-9BF7-6B5744C3F8CC}"/>
              </a:ext>
            </a:extLst>
          </p:cNvPr>
          <p:cNvSpPr>
            <a:spLocks noGrp="1"/>
          </p:cNvSpPr>
          <p:nvPr/>
        </p:nvSpPr>
        <p:spPr>
          <a:xfrm>
            <a:off x="4629150" y="2543175"/>
            <a:ext cx="6191250" cy="0"/>
          </a:xfrm>
          <a:prstGeom prst="line">
            <a:avLst/>
          </a:prstGeom>
          <a:ln w="19050">
            <a:solidFill>
              <a:srgbClr val="3B4658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3CD9DA-C4B4-4E26-A00B-96342B45BAEA}"/>
              </a:ext>
            </a:extLst>
          </p:cNvPr>
          <p:cNvSpPr>
            <a:spLocks noGrp="1"/>
          </p:cNvSpPr>
          <p:nvPr/>
        </p:nvSpPr>
        <p:spPr>
          <a:xfrm>
            <a:off x="4629150" y="2695575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2CB3E1-8615-42E0-83D8-F1404BEB9BAE}"/>
              </a:ext>
            </a:extLst>
          </p:cNvPr>
          <p:cNvSpPr>
            <a:spLocks noGrp="1"/>
          </p:cNvSpPr>
          <p:nvPr/>
        </p:nvSpPr>
        <p:spPr>
          <a:xfrm>
            <a:off x="7334250" y="26955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30 / 30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2DA13-4E86-459E-9A8C-EB51103030DE}"/>
              </a:ext>
            </a:extLst>
          </p:cNvPr>
          <p:cNvSpPr>
            <a:spLocks noGrp="1"/>
          </p:cNvSpPr>
          <p:nvPr/>
        </p:nvSpPr>
        <p:spPr>
          <a:xfrm>
            <a:off x="9810750" y="26955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469A6EB-45D7-4400-97A3-BCB5641D5AAF}"/>
              </a:ext>
            </a:extLst>
          </p:cNvPr>
          <p:cNvSpPr>
            <a:spLocks noGrp="1"/>
          </p:cNvSpPr>
          <p:nvPr/>
        </p:nvSpPr>
        <p:spPr>
          <a:xfrm>
            <a:off x="4629150" y="3000375"/>
            <a:ext cx="6191250" cy="0"/>
          </a:xfrm>
          <a:prstGeom prst="line">
            <a:avLst/>
          </a:prstGeom>
          <a:ln w="19050">
            <a:solidFill>
              <a:srgbClr val="3B4658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078929-2319-4DD7-A7A2-5CFF5BE611B3}"/>
              </a:ext>
            </a:extLst>
          </p:cNvPr>
          <p:cNvSpPr>
            <a:spLocks noGrp="1"/>
          </p:cNvSpPr>
          <p:nvPr/>
        </p:nvSpPr>
        <p:spPr>
          <a:xfrm>
            <a:off x="4629150" y="3152775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Ground truth khớp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D6DD75-064D-4C83-B616-E97B798255B1}"/>
              </a:ext>
            </a:extLst>
          </p:cNvPr>
          <p:cNvSpPr>
            <a:spLocks noGrp="1"/>
          </p:cNvSpPr>
          <p:nvPr/>
        </p:nvSpPr>
        <p:spPr>
          <a:xfrm>
            <a:off x="7334250" y="31527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30 / 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5D5CC4-BF75-4449-8587-374C341B9DB8}"/>
              </a:ext>
            </a:extLst>
          </p:cNvPr>
          <p:cNvSpPr>
            <a:spLocks noGrp="1"/>
          </p:cNvSpPr>
          <p:nvPr/>
        </p:nvSpPr>
        <p:spPr>
          <a:xfrm>
            <a:off x="9810750" y="31527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5865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865F2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219373E5-1457-482E-BAD8-A6BEF5F43A45}"/>
              </a:ext>
            </a:extLst>
          </p:cNvPr>
          <p:cNvSpPr>
            <a:spLocks noGrp="1"/>
          </p:cNvSpPr>
          <p:nvPr/>
        </p:nvSpPr>
        <p:spPr>
          <a:xfrm>
            <a:off x="4629150" y="3457575"/>
            <a:ext cx="6191250" cy="0"/>
          </a:xfrm>
          <a:prstGeom prst="line">
            <a:avLst/>
          </a:prstGeom>
          <a:ln w="19050">
            <a:solidFill>
              <a:srgbClr val="3B4658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EF1AC2-64B4-4D13-B953-87005D69535C}"/>
              </a:ext>
            </a:extLst>
          </p:cNvPr>
          <p:cNvSpPr>
            <a:spLocks noGrp="1"/>
          </p:cNvSpPr>
          <p:nvPr/>
        </p:nvSpPr>
        <p:spPr>
          <a:xfrm>
            <a:off x="4629150" y="3609975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Factuality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3586F-C43B-4547-8D0D-B7A7294EFA1C}"/>
              </a:ext>
            </a:extLst>
          </p:cNvPr>
          <p:cNvSpPr>
            <a:spLocks noGrp="1"/>
          </p:cNvSpPr>
          <p:nvPr/>
        </p:nvSpPr>
        <p:spPr>
          <a:xfrm>
            <a:off x="7334250" y="36099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28 / 30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A7C407-7D78-4464-9F03-8B7401E5D556}"/>
              </a:ext>
            </a:extLst>
          </p:cNvPr>
          <p:cNvSpPr>
            <a:spLocks noGrp="1"/>
          </p:cNvSpPr>
          <p:nvPr/>
        </p:nvSpPr>
        <p:spPr>
          <a:xfrm>
            <a:off x="9810750" y="36099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93,33%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69B96C2-421F-4C1E-854E-95B4FC302943}"/>
              </a:ext>
            </a:extLst>
          </p:cNvPr>
          <p:cNvSpPr>
            <a:spLocks noGrp="1"/>
          </p:cNvSpPr>
          <p:nvPr/>
        </p:nvSpPr>
        <p:spPr>
          <a:xfrm>
            <a:off x="4629150" y="3914775"/>
            <a:ext cx="6191250" cy="0"/>
          </a:xfrm>
          <a:prstGeom prst="line">
            <a:avLst/>
          </a:prstGeom>
          <a:ln w="19050">
            <a:solidFill>
              <a:srgbClr val="3B4658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77E70D-5973-429D-BEF8-E3C7DC8DBEBC}"/>
              </a:ext>
            </a:extLst>
          </p:cNvPr>
          <p:cNvSpPr>
            <a:spLocks noGrp="1"/>
          </p:cNvSpPr>
          <p:nvPr/>
        </p:nvSpPr>
        <p:spPr>
          <a:xfrm>
            <a:off x="4629150" y="4067175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Conciseness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2A50AE-A091-483F-9016-70491EEDEC62}"/>
              </a:ext>
            </a:extLst>
          </p:cNvPr>
          <p:cNvSpPr>
            <a:spLocks noGrp="1"/>
          </p:cNvSpPr>
          <p:nvPr/>
        </p:nvSpPr>
        <p:spPr>
          <a:xfrm>
            <a:off x="7334250" y="40671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30 /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8B4039-772C-4865-9D52-AB96D6D76913}"/>
              </a:ext>
            </a:extLst>
          </p:cNvPr>
          <p:cNvSpPr>
            <a:spLocks noGrp="1"/>
          </p:cNvSpPr>
          <p:nvPr/>
        </p:nvSpPr>
        <p:spPr>
          <a:xfrm>
            <a:off x="9810750" y="40671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C08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084FC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17262073-A578-4CBD-A7A5-162904D680B5}"/>
              </a:ext>
            </a:extLst>
          </p:cNvPr>
          <p:cNvSpPr>
            <a:spLocks noGrp="1"/>
          </p:cNvSpPr>
          <p:nvPr/>
        </p:nvSpPr>
        <p:spPr>
          <a:xfrm>
            <a:off x="4629150" y="4371975"/>
            <a:ext cx="6191250" cy="0"/>
          </a:xfrm>
          <a:prstGeom prst="line">
            <a:avLst/>
          </a:prstGeom>
          <a:ln w="19050">
            <a:solidFill>
              <a:srgbClr val="3B4658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75A279-A572-4302-9D75-973C1B8FC272}"/>
              </a:ext>
            </a:extLst>
          </p:cNvPr>
          <p:cNvSpPr>
            <a:spLocks noGrp="1"/>
          </p:cNvSpPr>
          <p:nvPr/>
        </p:nvSpPr>
        <p:spPr>
          <a:xfrm>
            <a:off x="4629150" y="4524375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Safety &amp; boundary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F4581F-DFFE-497E-8D88-6E6A9F10E2A3}"/>
              </a:ext>
            </a:extLst>
          </p:cNvPr>
          <p:cNvSpPr>
            <a:spLocks noGrp="1"/>
          </p:cNvSpPr>
          <p:nvPr/>
        </p:nvSpPr>
        <p:spPr>
          <a:xfrm>
            <a:off x="7334250" y="4524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30 / 30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59541E-78A0-409A-85C7-435F42D6EB26}"/>
              </a:ext>
            </a:extLst>
          </p:cNvPr>
          <p:cNvSpPr>
            <a:spLocks noGrp="1"/>
          </p:cNvSpPr>
          <p:nvPr/>
        </p:nvSpPr>
        <p:spPr>
          <a:xfrm>
            <a:off x="9810750" y="45243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2BBD6F0B-AB3F-4CE0-83FB-CE0AE20EFB3F}"/>
              </a:ext>
            </a:extLst>
          </p:cNvPr>
          <p:cNvSpPr>
            <a:spLocks noGrp="1"/>
          </p:cNvSpPr>
          <p:nvPr/>
        </p:nvSpPr>
        <p:spPr>
          <a:xfrm>
            <a:off x="4629150" y="4829175"/>
            <a:ext cx="6191250" cy="0"/>
          </a:xfrm>
          <a:prstGeom prst="line">
            <a:avLst/>
          </a:prstGeom>
          <a:ln w="19050">
            <a:solidFill>
              <a:srgbClr val="3B4658"/>
            </a:solidFill>
          </a:ln>
        </p:spPr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0F6EE7B-87BE-435A-AFF3-6604AEA46EFB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EF6DC4-824F-417C-AB22-1320B585AE17}"/>
              </a:ext>
            </a:extLst>
          </p:cNvPr>
          <p:cNvSpPr>
            <a:spLocks noGrp="1"/>
          </p:cNvSpPr>
          <p:nvPr/>
        </p:nvSpPr>
        <p:spPr>
          <a:xfrm>
            <a:off x="857250" y="5781675"/>
            <a:ext cx="10382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failure: TC_23 và TC_26 kỳ vọng dữ kiện chưa có trong ground truth · không sửa số đo</a:t>
            </a:r>
          </a:p>
        </p:txBody>
      </p:sp>
    </p:spTree>
    <p:extLst>
      <p:ext uri="{BB962C8B-B14F-4D97-AF65-F5344CB8AC3E}">
        <p14:creationId xmlns:p14="http://schemas.microsoft.com/office/powerpoint/2010/main" val="27084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CD74410-931E-4C79-81FB-72668739358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05 · FAILURE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07F5D3-CA08-4E6F-8077-7309ACC059B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Bài học từ các case thất bại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B2D573-8A04-4DBC-A559-6C4CA4FB14F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LacHong · Discord Assistant   5/6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8CE1A0-DF29-494E-8A20-0920C9DB462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5334000" cy="3905250"/>
          </a:xfrm>
          <a:prstGeom prst="roundRect">
            <a:avLst>
              <a:gd name="adj" fmla="val 1951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94A2B-3F33-4F27-87F3-15801B7D73BE}"/>
              </a:ext>
            </a:extLst>
          </p:cNvPr>
          <p:cNvSpPr>
            <a:spLocks noGrp="1"/>
          </p:cNvSpPr>
          <p:nvPr/>
        </p:nvSpPr>
        <p:spPr>
          <a:xfrm>
            <a:off x="895350" y="17335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Hai failure vẫn còn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8C1BD1-FD0B-44A5-BA75-CEDEA82860B3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904875" cy="323850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E0CD5F-E3B4-4D47-BF84-AA9F0034766C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67627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TC_23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7BA6B3-7F78-4F3D-97A5-E1B2CCF38903}"/>
              </a:ext>
            </a:extLst>
          </p:cNvPr>
          <p:cNvSpPr>
            <a:spLocks noGrp="1"/>
          </p:cNvSpPr>
          <p:nvPr/>
        </p:nvSpPr>
        <p:spPr>
          <a:xfrm>
            <a:off x="2000250" y="2333625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Onboarding có tính vào XP?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1578C1-73E0-40A5-BC5F-F88C27C7A4B2}"/>
              </a:ext>
            </a:extLst>
          </p:cNvPr>
          <p:cNvSpPr>
            <a:spLocks noGrp="1"/>
          </p:cNvSpPr>
          <p:nvPr/>
        </p:nvSpPr>
        <p:spPr>
          <a:xfrm>
            <a:off x="895350" y="27146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ANN_07 chỉ có lệnh xem XP, không nói về quy đổi. Trả lời “có/không” sẽ là bịa.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E380AC-1976-4949-AF72-B8D526BDF7F9}"/>
              </a:ext>
            </a:extLst>
          </p:cNvPr>
          <p:cNvSpPr>
            <a:spLocks noGrp="1"/>
          </p:cNvSpPr>
          <p:nvPr/>
        </p:nvSpPr>
        <p:spPr>
          <a:xfrm>
            <a:off x="895350" y="3667125"/>
            <a:ext cx="904875" cy="323850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47EA3C-8094-4F56-9B77-F09D67D20E12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67627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TC_26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4F88D4-050E-47F7-AD88-C1A5ABA33056}"/>
              </a:ext>
            </a:extLst>
          </p:cNvPr>
          <p:cNvSpPr>
            <a:spLocks noGrp="1"/>
          </p:cNvSpPr>
          <p:nvPr/>
        </p:nvSpPr>
        <p:spPr>
          <a:xfrm>
            <a:off x="2000250" y="3714750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Khác lớp lab có chung team?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061617-ECB5-438A-AC75-687AF9E49747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ANN_01 nói quy trình lập đội, chưa xác nhận chính sách khác lớp.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9D560AA-15B3-44C8-8267-630D2741F34D}"/>
              </a:ext>
            </a:extLst>
          </p:cNvPr>
          <p:cNvSpPr>
            <a:spLocks noGrp="1"/>
          </p:cNvSpPr>
          <p:nvPr/>
        </p:nvSpPr>
        <p:spPr>
          <a:xfrm>
            <a:off x="6419850" y="1428750"/>
            <a:ext cx="5162550" cy="3905250"/>
          </a:xfrm>
          <a:prstGeom prst="roundRect">
            <a:avLst>
              <a:gd name="adj" fmla="val 1951"/>
            </a:avLst>
          </a:prstGeom>
          <a:solidFill>
            <a:srgbClr val="273449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7FE1E5-0F3A-4F60-A5E2-549D2D536520}"/>
              </a:ext>
            </a:extLst>
          </p:cNvPr>
          <p:cNvSpPr>
            <a:spLocks noGrp="1"/>
          </p:cNvSpPr>
          <p:nvPr/>
        </p:nvSpPr>
        <p:spPr>
          <a:xfrm>
            <a:off x="6705600" y="17335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Điều chỉnh đã khóa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07DE70-511E-46B1-8149-25EBDBC8EA7C}"/>
              </a:ext>
            </a:extLst>
          </p:cNvPr>
          <p:cNvSpPr>
            <a:spLocks noGrp="1"/>
          </p:cNvSpPr>
          <p:nvPr/>
        </p:nvSpPr>
        <p:spPr>
          <a:xfrm>
            <a:off x="6705600" y="233362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Ground truth trước, câu trả lời sau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987B9E-7E0A-453E-92DD-2C699542B047}"/>
              </a:ext>
            </a:extLst>
          </p:cNvPr>
          <p:cNvSpPr>
            <a:spLocks noGrp="1"/>
          </p:cNvSpPr>
          <p:nvPr/>
        </p:nvSpPr>
        <p:spPr>
          <a:xfrm>
            <a:off x="6705600" y="2857500"/>
            <a:ext cx="428625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• Không biến kỳ vọng của Golden Set thành dữ kiện</a:t>
            </a:r>
          </a:p>
          <a:p>
            <a:pPr>
              <a:defRPr sz="14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• Case thiếu căn cứ đi thẳng tới TA</a:t>
            </a:r>
          </a:p>
          <a:p>
            <a:pPr>
              <a:defRPr sz="14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• Điểm đo giữ nguyên để review được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387FC6-D068-42E6-B853-49FA76268248}"/>
              </a:ext>
            </a:extLst>
          </p:cNvPr>
          <p:cNvSpPr>
            <a:spLocks noGrp="1"/>
          </p:cNvSpPr>
          <p:nvPr/>
        </p:nvSpPr>
        <p:spPr>
          <a:xfrm>
            <a:off x="6705600" y="4476750"/>
            <a:ext cx="4191000" cy="514350"/>
          </a:xfrm>
          <a:prstGeom prst="roundRect">
            <a:avLst>
              <a:gd name="adj" fmla="val 14815"/>
            </a:avLst>
          </a:prstGeom>
          <a:solidFill>
            <a:srgbClr val="5865F2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2317F8-7298-4223-BAA9-1F51F9FB21B6}"/>
              </a:ext>
            </a:extLst>
          </p:cNvPr>
          <p:cNvSpPr>
            <a:spLocks noGrp="1"/>
          </p:cNvSpPr>
          <p:nvPr/>
        </p:nvSpPr>
        <p:spPr>
          <a:xfrm>
            <a:off x="6896100" y="4638675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Bài học: thiếu nguồn là một kết quả hợp lệ</a:t>
            </a:r>
          </a:p>
        </p:txBody>
      </p:sp>
    </p:spTree>
    <p:extLst>
      <p:ext uri="{BB962C8B-B14F-4D97-AF65-F5344CB8AC3E}">
        <p14:creationId xmlns:p14="http://schemas.microsoft.com/office/powerpoint/2010/main" val="151892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0EBEC56-9BCA-4C91-9A4E-AE9895D4918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06 · NEXT WEEK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133299-A0D5-49A3-AB22-4BB95B3AF60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Kế hoạch mở rộng và phân công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6C780-AE8A-4F8C-ADF7-E4FB97866D2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LacHong · Discord Assistant   6/6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5B368A-0BFB-4B5C-81DC-7B7720594B8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5429250" cy="3905250"/>
          </a:xfrm>
          <a:prstGeom prst="roundRect">
            <a:avLst>
              <a:gd name="adj" fmla="val 1951"/>
            </a:avLst>
          </a:prstGeom>
          <a:solidFill>
            <a:srgbClr val="1F2937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F04BEB-E990-46D1-8E20-42FC6A145924}"/>
              </a:ext>
            </a:extLst>
          </p:cNvPr>
          <p:cNvSpPr>
            <a:spLocks noGrp="1"/>
          </p:cNvSpPr>
          <p:nvPr/>
        </p:nvSpPr>
        <p:spPr>
          <a:xfrm>
            <a:off x="895350" y="1733550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Nếu có thêm một tuần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52E4A3-881A-490A-A7B6-BDE3E80728F4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457200" cy="323850"/>
          </a:xfrm>
          <a:prstGeom prst="roundRect">
            <a:avLst>
              <a:gd name="adj" fmla="val 23529"/>
            </a:avLst>
          </a:prstGeom>
          <a:solidFill>
            <a:srgbClr val="67E8F9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FBDA1-72A4-4C11-B4E8-CA51E6E748A9}"/>
              </a:ext>
            </a:extLst>
          </p:cNvPr>
          <p:cNvSpPr>
            <a:spLocks noGrp="1"/>
          </p:cNvSpPr>
          <p:nvPr/>
        </p:nvSpPr>
        <p:spPr>
          <a:xfrm>
            <a:off x="1009650" y="2447924"/>
            <a:ext cx="4572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80DCC5-5815-4687-843D-94A6424444F8}"/>
              </a:ext>
            </a:extLst>
          </p:cNvPr>
          <p:cNvSpPr>
            <a:spLocks noGrp="1"/>
          </p:cNvSpPr>
          <p:nvPr/>
        </p:nvSpPr>
        <p:spPr>
          <a:xfrm>
            <a:off x="1562100" y="242887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Bổ sung thông báo đã xác minh cho TC_23 / TC_26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175B24-60E1-4064-B9CF-494101CAD7DA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457200" cy="323850"/>
          </a:xfrm>
          <a:prstGeom prst="roundRect">
            <a:avLst>
              <a:gd name="adj" fmla="val 23529"/>
            </a:avLst>
          </a:prstGeom>
          <a:solidFill>
            <a:srgbClr val="67E8F9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236BB0-2A1B-452C-96DF-595119AFC1F6}"/>
              </a:ext>
            </a:extLst>
          </p:cNvPr>
          <p:cNvSpPr>
            <a:spLocks noGrp="1"/>
          </p:cNvSpPr>
          <p:nvPr/>
        </p:nvSpPr>
        <p:spPr>
          <a:xfrm>
            <a:off x="1009650" y="3228974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85A6D0-EC87-412F-A72D-D73D208FC64B}"/>
              </a:ext>
            </a:extLst>
          </p:cNvPr>
          <p:cNvSpPr>
            <a:spLocks noGrp="1"/>
          </p:cNvSpPr>
          <p:nvPr/>
        </p:nvSpPr>
        <p:spPr>
          <a:xfrm>
            <a:off x="1562100" y="320992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Lưu citation mapping tự động từ Discord message ID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50D3D1B-0928-44C0-B5D2-31B40E871DA7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57200" cy="323850"/>
          </a:xfrm>
          <a:prstGeom prst="roundRect">
            <a:avLst>
              <a:gd name="adj" fmla="val 23529"/>
            </a:avLst>
          </a:prstGeom>
          <a:solidFill>
            <a:srgbClr val="67E8F9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511349-847A-4B29-9B3C-91F657323B05}"/>
              </a:ext>
            </a:extLst>
          </p:cNvPr>
          <p:cNvSpPr>
            <a:spLocks noGrp="1"/>
          </p:cNvSpPr>
          <p:nvPr/>
        </p:nvSpPr>
        <p:spPr>
          <a:xfrm>
            <a:off x="1009650" y="4010025"/>
            <a:ext cx="400050" cy="257174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C0F2DC-889B-46B7-9D6A-27B162E90B80}"/>
              </a:ext>
            </a:extLst>
          </p:cNvPr>
          <p:cNvSpPr>
            <a:spLocks noGrp="1"/>
          </p:cNvSpPr>
          <p:nvPr/>
        </p:nvSpPr>
        <p:spPr>
          <a:xfrm>
            <a:off x="1562100" y="399097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Persistent buttons, retry và theo dõi handoff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E7F184B-2BA8-4F1F-B16F-7BBF7627F286}"/>
              </a:ext>
            </a:extLst>
          </p:cNvPr>
          <p:cNvSpPr>
            <a:spLocks noGrp="1"/>
          </p:cNvSpPr>
          <p:nvPr/>
        </p:nvSpPr>
        <p:spPr>
          <a:xfrm>
            <a:off x="6419850" y="1428750"/>
            <a:ext cx="5162550" cy="3905250"/>
          </a:xfrm>
          <a:prstGeom prst="roundRect">
            <a:avLst>
              <a:gd name="adj" fmla="val 1951"/>
            </a:avLst>
          </a:prstGeom>
          <a:solidFill>
            <a:srgbClr val="273449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C1B6D0-A80E-4C45-AAD0-B24692C4652E}"/>
              </a:ext>
            </a:extLst>
          </p:cNvPr>
          <p:cNvSpPr>
            <a:spLocks noGrp="1"/>
          </p:cNvSpPr>
          <p:nvPr/>
        </p:nvSpPr>
        <p:spPr>
          <a:xfrm>
            <a:off x="6705600" y="17335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7E8F9"/>
                </a:solidFill>
                <a:latin typeface="Helvetica Neue"/>
                <a:ea typeface="Helvetica Neue"/>
                <a:cs typeface="Helvetica Neue"/>
              </a:rPr>
              <a:t>Phân công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F33FE-3A25-49C2-AEEF-AEE51CE3F9D7}"/>
              </a:ext>
            </a:extLst>
          </p:cNvPr>
          <p:cNvSpPr>
            <a:spLocks noGrp="1"/>
          </p:cNvSpPr>
          <p:nvPr/>
        </p:nvSpPr>
        <p:spPr>
          <a:xfrm>
            <a:off x="6705600" y="22860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Nguyễn Tiến Tuân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27C8BB-D0DB-42E9-828A-B39E12E7405D}"/>
              </a:ext>
            </a:extLst>
          </p:cNvPr>
          <p:cNvSpPr>
            <a:spLocks noGrp="1"/>
          </p:cNvSpPr>
          <p:nvPr/>
        </p:nvSpPr>
        <p:spPr>
          <a:xfrm>
            <a:off x="9144000" y="2286000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lead · spec · tổng hợp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049DCD-FC3A-4FA2-B2FA-443BA1BCDED9}"/>
              </a:ext>
            </a:extLst>
          </p:cNvPr>
          <p:cNvSpPr>
            <a:spLocks noGrp="1"/>
          </p:cNvSpPr>
          <p:nvPr/>
        </p:nvSpPr>
        <p:spPr>
          <a:xfrm>
            <a:off x="6705600" y="287655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Trần Phạm Thái Vũ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72ADE5-E021-4203-8386-993F43EBC8C1}"/>
              </a:ext>
            </a:extLst>
          </p:cNvPr>
          <p:cNvSpPr>
            <a:spLocks noGrp="1"/>
          </p:cNvSpPr>
          <p:nvPr/>
        </p:nvSpPr>
        <p:spPr>
          <a:xfrm>
            <a:off x="9144000" y="2876550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data · eval · quality bar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32F40B-6998-4C5A-951D-9C3D0BABE79A}"/>
              </a:ext>
            </a:extLst>
          </p:cNvPr>
          <p:cNvSpPr>
            <a:spLocks noGrp="1"/>
          </p:cNvSpPr>
          <p:nvPr/>
        </p:nvSpPr>
        <p:spPr>
          <a:xfrm>
            <a:off x="6705600" y="34671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Vũ Duy Điệp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E15253-68D1-454D-B9C6-8E26BEAC5513}"/>
              </a:ext>
            </a:extLst>
          </p:cNvPr>
          <p:cNvSpPr>
            <a:spLocks noGrp="1"/>
          </p:cNvSpPr>
          <p:nvPr/>
        </p:nvSpPr>
        <p:spPr>
          <a:xfrm>
            <a:off x="9144000" y="3467100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core AI · grounding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8FDC23-3D31-4D2C-B5A6-5841097506A7}"/>
              </a:ext>
            </a:extLst>
          </p:cNvPr>
          <p:cNvSpPr>
            <a:spLocks noGrp="1"/>
          </p:cNvSpPr>
          <p:nvPr/>
        </p:nvSpPr>
        <p:spPr>
          <a:xfrm>
            <a:off x="6705600" y="405765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Võ Phú Hãn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68EE16-EB60-4B5F-B11A-9FD440F0472B}"/>
              </a:ext>
            </a:extLst>
          </p:cNvPr>
          <p:cNvSpPr>
            <a:spLocks noGrp="1"/>
          </p:cNvSpPr>
          <p:nvPr/>
        </p:nvSpPr>
        <p:spPr>
          <a:xfrm>
            <a:off x="9144000" y="4057650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125" b="0" dirty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U</a:t>
            </a:r>
            <a:r>
              <a:rPr sz="1125" b="0" dirty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I · </a:t>
            </a:r>
            <a:r>
              <a:rPr lang="en-US" sz="1125" dirty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Discord </a:t>
            </a:r>
            <a:r>
              <a:rPr sz="1125" b="0" dirty="0">
                <a:solidFill>
                  <a:srgbClr val="A7B3C5"/>
                </a:solidFill>
                <a:latin typeface="Helvetica Neue"/>
                <a:ea typeface="Helvetica Neue"/>
                <a:cs typeface="Helvetica Neue"/>
              </a:rPr>
              <a:t>bot · demo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3FD318B-0099-4D3A-B980-EADE8A71F092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5865F2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3FE0D2-3FFC-4424-BFC3-2DF77CD1A78C}"/>
              </a:ext>
            </a:extLst>
          </p:cNvPr>
          <p:cNvSpPr>
            <a:spLocks noGrp="1"/>
          </p:cNvSpPr>
          <p:nvPr/>
        </p:nvSpPr>
        <p:spPr>
          <a:xfrm>
            <a:off x="857250" y="5781675"/>
            <a:ext cx="10382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Mục tiêu tiếp theo: citation thật, handoff đúng người, và không trả lời vượt quá nguồn.</a:t>
            </a:r>
          </a:p>
        </p:txBody>
      </p:sp>
    </p:spTree>
    <p:extLst>
      <p:ext uri="{BB962C8B-B14F-4D97-AF65-F5344CB8AC3E}">
        <p14:creationId xmlns:p14="http://schemas.microsoft.com/office/powerpoint/2010/main" val="10509562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Macintosh PowerPoint</Application>
  <DocSecurity>0</DocSecurity>
  <PresentationFormat>Widescreen</PresentationFormat>
  <Paragraphs>125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Võ Phú Hãn</cp:lastModifiedBy>
  <cp:revision>1</cp:revision>
  <dcterms:created xsi:type="dcterms:W3CDTF">2026-09-17T12:55:49Z</dcterms:created>
  <dcterms:modified xsi:type="dcterms:W3CDTF">2026-09-17T13:02:21Z</dcterms:modified>
</cp:coreProperties>
</file>